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58" r:id="rId3"/>
    <p:sldId id="287" r:id="rId4"/>
    <p:sldId id="297" r:id="rId5"/>
    <p:sldId id="280" r:id="rId6"/>
    <p:sldId id="272" r:id="rId7"/>
    <p:sldId id="261" r:id="rId8"/>
    <p:sldId id="262" r:id="rId9"/>
    <p:sldId id="270" r:id="rId10"/>
    <p:sldId id="264" r:id="rId11"/>
    <p:sldId id="265" r:id="rId12"/>
    <p:sldId id="273" r:id="rId13"/>
    <p:sldId id="269" r:id="rId14"/>
    <p:sldId id="259" r:id="rId15"/>
    <p:sldId id="266" r:id="rId16"/>
    <p:sldId id="268" r:id="rId17"/>
    <p:sldId id="275" r:id="rId18"/>
    <p:sldId id="274" r:id="rId19"/>
    <p:sldId id="278" r:id="rId20"/>
    <p:sldId id="286" r:id="rId21"/>
    <p:sldId id="277" r:id="rId22"/>
    <p:sldId id="281" r:id="rId23"/>
    <p:sldId id="276" r:id="rId24"/>
    <p:sldId id="282" r:id="rId25"/>
    <p:sldId id="284" r:id="rId26"/>
    <p:sldId id="285" r:id="rId27"/>
    <p:sldId id="289" r:id="rId28"/>
    <p:sldId id="290" r:id="rId29"/>
    <p:sldId id="291" r:id="rId30"/>
    <p:sldId id="292" r:id="rId31"/>
    <p:sldId id="296" r:id="rId32"/>
    <p:sldId id="293" r:id="rId33"/>
    <p:sldId id="294" r:id="rId34"/>
    <p:sldId id="27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06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391" userDrawn="1">
          <p15:clr>
            <a:srgbClr val="A4A3A4"/>
          </p15:clr>
        </p15:guide>
        <p15:guide id="6" pos="2865" userDrawn="1">
          <p15:clr>
            <a:srgbClr val="A4A3A4"/>
          </p15:clr>
        </p15:guide>
        <p15:guide id="7" pos="4725" userDrawn="1">
          <p15:clr>
            <a:srgbClr val="A4A3A4"/>
          </p15:clr>
        </p15:guide>
        <p15:guide id="8" pos="665" userDrawn="1">
          <p15:clr>
            <a:srgbClr val="A4A3A4"/>
          </p15:clr>
        </p15:guide>
        <p15:guide id="9" pos="846" userDrawn="1">
          <p15:clr>
            <a:srgbClr val="A4A3A4"/>
          </p15:clr>
        </p15:guide>
        <p15:guide id="10" pos="7423" userDrawn="1">
          <p15:clr>
            <a:srgbClr val="A4A3A4"/>
          </p15:clr>
        </p15:guide>
        <p15:guide id="11" pos="3250" userDrawn="1">
          <p15:clr>
            <a:srgbClr val="A4A3A4"/>
          </p15:clr>
        </p15:guide>
        <p15:guide id="12" pos="3432" userDrawn="1">
          <p15:clr>
            <a:srgbClr val="A4A3A4"/>
          </p15:clr>
        </p15:guide>
        <p15:guide id="13" pos="2706" userDrawn="1">
          <p15:clr>
            <a:srgbClr val="A4A3A4"/>
          </p15:clr>
        </p15:guide>
        <p15:guide id="14" pos="257" userDrawn="1">
          <p15:clr>
            <a:srgbClr val="A4A3A4"/>
          </p15:clr>
        </p15:guide>
        <p15:guide id="15" pos="5314" userDrawn="1">
          <p15:clr>
            <a:srgbClr val="A4A3A4"/>
          </p15:clr>
        </p15:guide>
        <p15:guide id="16" pos="5858" userDrawn="1">
          <p15:clr>
            <a:srgbClr val="A4A3A4"/>
          </p15:clr>
        </p15:guide>
        <p15:guide id="17" pos="60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2"/>
    <a:srgbClr val="A3ACAE"/>
    <a:srgbClr val="0D0D0D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0636DF-90DC-4DAB-ADA4-CE4EB6795900}" v="128" dt="2025-10-26T13:56:38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3566" autoAdjust="0"/>
  </p:normalViewPr>
  <p:slideViewPr>
    <p:cSldViewPr snapToGrid="0" showGuides="1">
      <p:cViewPr varScale="1">
        <p:scale>
          <a:sx n="60" d="100"/>
          <a:sy n="60" d="100"/>
        </p:scale>
        <p:origin x="784" y="52"/>
      </p:cViewPr>
      <p:guideLst>
        <p:guide orient="horz" pos="3906"/>
        <p:guide pos="7333"/>
        <p:guide pos="438"/>
        <p:guide orient="horz" pos="391"/>
        <p:guide pos="2865"/>
        <p:guide pos="4725"/>
        <p:guide pos="665"/>
        <p:guide pos="846"/>
        <p:guide pos="7423"/>
        <p:guide pos="3250"/>
        <p:guide pos="3432"/>
        <p:guide pos="2706"/>
        <p:guide pos="257"/>
        <p:guide pos="5314"/>
        <p:guide pos="5858"/>
        <p:guide pos="60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20000" cy="12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F6F88-77CF-46F5-8EAA-78D5BE08F907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14F31-D386-46E2-B2B0-D380B139DE8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171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8674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5E37A-2146-CC58-79BF-DB0527096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4C42D1-2297-EFE8-AA2D-292449F38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7A22F-5FD1-9E2B-26EE-BB6AFBE49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44334-D3CC-ABD3-AA8A-0902F65A2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6242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42FE6-5E94-2B08-9A7D-5C6805889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40B10-D3D2-0F98-F93E-635BCABAB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31F07-A410-6F34-8A93-CEAB15181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5FDE6-3E23-790E-45DD-57BF1045F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787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A8A7F-97EE-C78A-ABAA-94CF76936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DAFB8-9D06-4AE1-B4B4-869AF5A0B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12B10-17B8-26A5-DBDF-26C30A735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0CE93-74A5-9683-883C-1CA2DF97F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9126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092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720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68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303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856C-E268-6E6C-DCDB-E4577B66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A34E9-C667-29C4-7921-153D28DE1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0CD6F-CE95-0E92-5C1B-A47DC2F28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998D9-BF85-0E7E-64B4-688A1BD36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328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CE540-B7DE-69D0-B1F1-924C378B7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93AA3-77CA-AAD5-D0A2-62926BA33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39A3C-6C8C-33C7-CD71-C5657C30A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2311C-63B2-62CD-48E6-C7040A6A0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531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EE205-258A-80B6-A35E-F56E166B5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6BB0F2-8EDD-B2E9-A081-12AFDAC58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EC853-4915-11D2-7078-E5B96C84D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33630-A5E8-D367-96D6-85631D7EB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7390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BAE83-C6DF-E610-1A79-4A43D5E1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B16789-4E08-0DD9-0221-096F3D79B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20673-4FEA-E6F2-A8A2-54246BFF2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A616B-313F-DC7B-91D2-B0CCCF5CD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540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53D1E-13C8-7FD3-2690-750FD861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66E6B-88A5-B5BA-4586-07AFD7452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DE124-0AF4-0F5B-B52E-93156102A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FA3E7-91C8-74F2-BA00-E71E3820D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1635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D9955-922A-2D7D-04FC-878636EB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0D74E-5274-95A0-0A83-9BA728276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25F7A-323C-1730-65EA-72377167C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991E2-E9A9-C30E-1A81-6ECCFDE93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4815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4DE9-7E46-A0E1-1455-759305345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A4218-7498-70CB-FB6D-4DA5FCE0F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7E946D-4C23-B45B-8BEA-28466A0E8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9EA5B-DC6A-4BB2-D06E-1219E1234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39747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A4D1B-F587-B06F-FFC0-481F8042E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D02E1-7A6E-A8D9-56A9-8452D8DC7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E1077-4739-4264-10EF-B9CA438CD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CC0E1-F45A-11B0-D52C-6877240C3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5397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77BC6-541A-CF92-6EDC-DEED01F1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B1C32-4700-FB7A-2C37-30BA04A22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E2F92-DC51-058A-7851-BFF11A860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B9548-F5F0-77EF-57DD-A30412735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2028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B3B1-E58A-3638-4E40-F448DD6C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D7161-9C53-EC76-5EBE-362B17709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06326-A020-5830-30C3-5A7A78C30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210DE-C7C3-6197-A09F-1CB2443E0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00900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85686-8F30-C3F0-6EF0-0786FE7D5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B56FF-0C09-8ED6-E8ED-473951910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290F9-5AAA-12E0-BD12-F66A8F862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433D6-325A-08DE-B89A-1F53AED30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387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089A6-12E4-8315-73A2-C43FB0A1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65F94-5FD7-F2D6-7FD8-8AA35FAE2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9D343-B92A-9640-9AC6-D787AFA67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583F1-BF83-C8EA-3F81-8F249B470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2793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938EE-40CB-335A-3DA5-428479E98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F7AF5-C0D2-445E-F148-B2D54EE43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15E74-6EF9-E383-59A1-9433638FD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1AFB3-EFC5-14CA-E8C3-E0EB7257F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8882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CFD7C-47B1-FA37-3603-51CF3E11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BC627-36BB-DB91-2368-FF731DE62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B747F-F1F5-E924-4D02-B65E58846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EC629-5C7C-7504-738A-B3DD6B182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2478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474E9-A62A-7DD4-44EC-6BBAFDC0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DB984-842D-B928-FC56-941D2CB4B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BAF4C-3F42-E24B-5E8F-B2409EDB9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BD279-58F1-25F4-CAFD-5FD52FC22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6441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717DA-B7AC-55A6-78BF-FEB14F37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D7D33-35E2-B96C-41CA-243A008D9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BCC1C-A8BD-06E5-4C0D-45C909E41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44CE4-F179-3415-919B-562B8200D7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4F31-D386-46E2-B2B0-D380B139DE80}" type="slidenum">
              <a:rPr lang="en-IN" smtClean="0"/>
              <a:t>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44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6FE5-2AE3-E05C-4FE2-37081112E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ABD59-B2EB-DEAA-8571-CBF938C55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C5870-1477-D6D5-5A64-5A855321C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2874-B560-46B3-9547-E7A87192D856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316E3-CA88-1489-810C-63B9E6D2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3D7C2-7831-1138-095E-E3902E4D4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839-D2D4-4515-A7DA-B147BD92C0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789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4BA724-834C-5FAB-23A1-49BBB29A30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1317562"/>
            <a:ext cx="5545138" cy="4339771"/>
          </a:xfrm>
          <a:custGeom>
            <a:avLst/>
            <a:gdLst>
              <a:gd name="connsiteX0" fmla="*/ 252705 w 5545138"/>
              <a:gd name="connsiteY0" fmla="*/ 0 h 4339771"/>
              <a:gd name="connsiteX1" fmla="*/ 5292433 w 5545138"/>
              <a:gd name="connsiteY1" fmla="*/ 0 h 4339771"/>
              <a:gd name="connsiteX2" fmla="*/ 5545138 w 5545138"/>
              <a:gd name="connsiteY2" fmla="*/ 252705 h 4339771"/>
              <a:gd name="connsiteX3" fmla="*/ 5545138 w 5545138"/>
              <a:gd name="connsiteY3" fmla="*/ 4087066 h 4339771"/>
              <a:gd name="connsiteX4" fmla="*/ 5292433 w 5545138"/>
              <a:gd name="connsiteY4" fmla="*/ 4339771 h 4339771"/>
              <a:gd name="connsiteX5" fmla="*/ 252705 w 5545138"/>
              <a:gd name="connsiteY5" fmla="*/ 4339771 h 4339771"/>
              <a:gd name="connsiteX6" fmla="*/ 0 w 5545138"/>
              <a:gd name="connsiteY6" fmla="*/ 4087066 h 4339771"/>
              <a:gd name="connsiteX7" fmla="*/ 0 w 5545138"/>
              <a:gd name="connsiteY7" fmla="*/ 252705 h 4339771"/>
              <a:gd name="connsiteX8" fmla="*/ 252705 w 5545138"/>
              <a:gd name="connsiteY8" fmla="*/ 0 h 4339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5138" h="4339771">
                <a:moveTo>
                  <a:pt x="252705" y="0"/>
                </a:moveTo>
                <a:lnTo>
                  <a:pt x="5292433" y="0"/>
                </a:lnTo>
                <a:cubicBezTo>
                  <a:pt x="5431998" y="0"/>
                  <a:pt x="5545138" y="113140"/>
                  <a:pt x="5545138" y="252705"/>
                </a:cubicBezTo>
                <a:lnTo>
                  <a:pt x="5545138" y="4087066"/>
                </a:lnTo>
                <a:cubicBezTo>
                  <a:pt x="5545138" y="4226631"/>
                  <a:pt x="5431998" y="4339771"/>
                  <a:pt x="5292433" y="4339771"/>
                </a:cubicBezTo>
                <a:lnTo>
                  <a:pt x="252705" y="4339771"/>
                </a:lnTo>
                <a:cubicBezTo>
                  <a:pt x="113140" y="4339771"/>
                  <a:pt x="0" y="4226631"/>
                  <a:pt x="0" y="4087066"/>
                </a:cubicBezTo>
                <a:lnTo>
                  <a:pt x="0" y="252705"/>
                </a:lnTo>
                <a:cubicBezTo>
                  <a:pt x="0" y="113140"/>
                  <a:pt x="113140" y="0"/>
                  <a:pt x="25270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726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59DE443-5570-7912-28BA-F58444FE45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0863" y="4780232"/>
            <a:ext cx="1749932" cy="1077360"/>
          </a:xfrm>
          <a:custGeom>
            <a:avLst/>
            <a:gdLst>
              <a:gd name="connsiteX0" fmla="*/ 104838 w 1749932"/>
              <a:gd name="connsiteY0" fmla="*/ 0 h 1077360"/>
              <a:gd name="connsiteX1" fmla="*/ 1645094 w 1749932"/>
              <a:gd name="connsiteY1" fmla="*/ 0 h 1077360"/>
              <a:gd name="connsiteX2" fmla="*/ 1749932 w 1749932"/>
              <a:gd name="connsiteY2" fmla="*/ 104838 h 1077360"/>
              <a:gd name="connsiteX3" fmla="*/ 1749932 w 1749932"/>
              <a:gd name="connsiteY3" fmla="*/ 972522 h 1077360"/>
              <a:gd name="connsiteX4" fmla="*/ 1645094 w 1749932"/>
              <a:gd name="connsiteY4" fmla="*/ 1077360 h 1077360"/>
              <a:gd name="connsiteX5" fmla="*/ 104838 w 1749932"/>
              <a:gd name="connsiteY5" fmla="*/ 1077360 h 1077360"/>
              <a:gd name="connsiteX6" fmla="*/ 0 w 1749932"/>
              <a:gd name="connsiteY6" fmla="*/ 972522 h 1077360"/>
              <a:gd name="connsiteX7" fmla="*/ 0 w 1749932"/>
              <a:gd name="connsiteY7" fmla="*/ 104838 h 1077360"/>
              <a:gd name="connsiteX8" fmla="*/ 104838 w 1749932"/>
              <a:gd name="connsiteY8" fmla="*/ 0 h 107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49932" h="1077360">
                <a:moveTo>
                  <a:pt x="104838" y="0"/>
                </a:moveTo>
                <a:lnTo>
                  <a:pt x="1645094" y="0"/>
                </a:lnTo>
                <a:cubicBezTo>
                  <a:pt x="1702994" y="0"/>
                  <a:pt x="1749932" y="46938"/>
                  <a:pt x="1749932" y="104838"/>
                </a:cubicBezTo>
                <a:lnTo>
                  <a:pt x="1749932" y="972522"/>
                </a:lnTo>
                <a:cubicBezTo>
                  <a:pt x="1749932" y="1030422"/>
                  <a:pt x="1702994" y="1077360"/>
                  <a:pt x="1645094" y="1077360"/>
                </a:cubicBezTo>
                <a:lnTo>
                  <a:pt x="104838" y="1077360"/>
                </a:lnTo>
                <a:cubicBezTo>
                  <a:pt x="46938" y="1077360"/>
                  <a:pt x="0" y="1030422"/>
                  <a:pt x="0" y="972522"/>
                </a:cubicBezTo>
                <a:lnTo>
                  <a:pt x="0" y="104838"/>
                </a:lnTo>
                <a:cubicBezTo>
                  <a:pt x="0" y="46938"/>
                  <a:pt x="46938" y="0"/>
                  <a:pt x="10483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B5AC4D6-F569-6F60-0492-43B5AAAC66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3159662"/>
            <a:ext cx="1749932" cy="1077360"/>
          </a:xfrm>
          <a:custGeom>
            <a:avLst/>
            <a:gdLst>
              <a:gd name="connsiteX0" fmla="*/ 104838 w 1749932"/>
              <a:gd name="connsiteY0" fmla="*/ 0 h 1077360"/>
              <a:gd name="connsiteX1" fmla="*/ 1645094 w 1749932"/>
              <a:gd name="connsiteY1" fmla="*/ 0 h 1077360"/>
              <a:gd name="connsiteX2" fmla="*/ 1749932 w 1749932"/>
              <a:gd name="connsiteY2" fmla="*/ 104838 h 1077360"/>
              <a:gd name="connsiteX3" fmla="*/ 1749932 w 1749932"/>
              <a:gd name="connsiteY3" fmla="*/ 972522 h 1077360"/>
              <a:gd name="connsiteX4" fmla="*/ 1645094 w 1749932"/>
              <a:gd name="connsiteY4" fmla="*/ 1077360 h 1077360"/>
              <a:gd name="connsiteX5" fmla="*/ 104838 w 1749932"/>
              <a:gd name="connsiteY5" fmla="*/ 1077360 h 1077360"/>
              <a:gd name="connsiteX6" fmla="*/ 0 w 1749932"/>
              <a:gd name="connsiteY6" fmla="*/ 972522 h 1077360"/>
              <a:gd name="connsiteX7" fmla="*/ 0 w 1749932"/>
              <a:gd name="connsiteY7" fmla="*/ 104838 h 1077360"/>
              <a:gd name="connsiteX8" fmla="*/ 104838 w 1749932"/>
              <a:gd name="connsiteY8" fmla="*/ 0 h 107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49932" h="1077360">
                <a:moveTo>
                  <a:pt x="104838" y="0"/>
                </a:moveTo>
                <a:lnTo>
                  <a:pt x="1645094" y="0"/>
                </a:lnTo>
                <a:cubicBezTo>
                  <a:pt x="1702994" y="0"/>
                  <a:pt x="1749932" y="46938"/>
                  <a:pt x="1749932" y="104838"/>
                </a:cubicBezTo>
                <a:lnTo>
                  <a:pt x="1749932" y="972522"/>
                </a:lnTo>
                <a:cubicBezTo>
                  <a:pt x="1749932" y="1030422"/>
                  <a:pt x="1702994" y="1077360"/>
                  <a:pt x="1645094" y="1077360"/>
                </a:cubicBezTo>
                <a:lnTo>
                  <a:pt x="104838" y="1077360"/>
                </a:lnTo>
                <a:cubicBezTo>
                  <a:pt x="46938" y="1077360"/>
                  <a:pt x="0" y="1030422"/>
                  <a:pt x="0" y="972522"/>
                </a:cubicBezTo>
                <a:lnTo>
                  <a:pt x="0" y="104838"/>
                </a:lnTo>
                <a:cubicBezTo>
                  <a:pt x="0" y="46938"/>
                  <a:pt x="46938" y="0"/>
                  <a:pt x="10483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81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0300551-3A07-70D1-FA3A-E7568B49C8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26583" y="4001082"/>
            <a:ext cx="3414555" cy="2236206"/>
          </a:xfrm>
          <a:custGeom>
            <a:avLst/>
            <a:gdLst>
              <a:gd name="connsiteX0" fmla="*/ 50248 w 3414555"/>
              <a:gd name="connsiteY0" fmla="*/ 0 h 2236206"/>
              <a:gd name="connsiteX1" fmla="*/ 3364307 w 3414555"/>
              <a:gd name="connsiteY1" fmla="*/ 0 h 2236206"/>
              <a:gd name="connsiteX2" fmla="*/ 3414555 w 3414555"/>
              <a:gd name="connsiteY2" fmla="*/ 50248 h 2236206"/>
              <a:gd name="connsiteX3" fmla="*/ 3414555 w 3414555"/>
              <a:gd name="connsiteY3" fmla="*/ 2185958 h 2236206"/>
              <a:gd name="connsiteX4" fmla="*/ 3364307 w 3414555"/>
              <a:gd name="connsiteY4" fmla="*/ 2236206 h 2236206"/>
              <a:gd name="connsiteX5" fmla="*/ 50248 w 3414555"/>
              <a:gd name="connsiteY5" fmla="*/ 2236206 h 2236206"/>
              <a:gd name="connsiteX6" fmla="*/ 0 w 3414555"/>
              <a:gd name="connsiteY6" fmla="*/ 2185958 h 2236206"/>
              <a:gd name="connsiteX7" fmla="*/ 0 w 3414555"/>
              <a:gd name="connsiteY7" fmla="*/ 50248 h 2236206"/>
              <a:gd name="connsiteX8" fmla="*/ 50248 w 3414555"/>
              <a:gd name="connsiteY8" fmla="*/ 0 h 2236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4555" h="2236206">
                <a:moveTo>
                  <a:pt x="50248" y="0"/>
                </a:moveTo>
                <a:lnTo>
                  <a:pt x="3364307" y="0"/>
                </a:lnTo>
                <a:cubicBezTo>
                  <a:pt x="3392058" y="0"/>
                  <a:pt x="3414555" y="22497"/>
                  <a:pt x="3414555" y="50248"/>
                </a:cubicBezTo>
                <a:lnTo>
                  <a:pt x="3414555" y="2185958"/>
                </a:lnTo>
                <a:cubicBezTo>
                  <a:pt x="3414555" y="2213709"/>
                  <a:pt x="3392058" y="2236206"/>
                  <a:pt x="3364307" y="2236206"/>
                </a:cubicBezTo>
                <a:lnTo>
                  <a:pt x="50248" y="2236206"/>
                </a:lnTo>
                <a:cubicBezTo>
                  <a:pt x="22497" y="2236206"/>
                  <a:pt x="0" y="2213709"/>
                  <a:pt x="0" y="2185958"/>
                </a:cubicBezTo>
                <a:lnTo>
                  <a:pt x="0" y="50248"/>
                </a:lnTo>
                <a:cubicBezTo>
                  <a:pt x="0" y="22497"/>
                  <a:pt x="22497" y="0"/>
                  <a:pt x="5024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CFAEE98-79FE-57E4-565C-41B5A508AC2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192794"/>
            <a:ext cx="3414555" cy="2236206"/>
          </a:xfrm>
          <a:custGeom>
            <a:avLst/>
            <a:gdLst>
              <a:gd name="connsiteX0" fmla="*/ 50248 w 3414555"/>
              <a:gd name="connsiteY0" fmla="*/ 0 h 2236206"/>
              <a:gd name="connsiteX1" fmla="*/ 3364307 w 3414555"/>
              <a:gd name="connsiteY1" fmla="*/ 0 h 2236206"/>
              <a:gd name="connsiteX2" fmla="*/ 3414555 w 3414555"/>
              <a:gd name="connsiteY2" fmla="*/ 50248 h 2236206"/>
              <a:gd name="connsiteX3" fmla="*/ 3414555 w 3414555"/>
              <a:gd name="connsiteY3" fmla="*/ 2185958 h 2236206"/>
              <a:gd name="connsiteX4" fmla="*/ 3364307 w 3414555"/>
              <a:gd name="connsiteY4" fmla="*/ 2236206 h 2236206"/>
              <a:gd name="connsiteX5" fmla="*/ 50248 w 3414555"/>
              <a:gd name="connsiteY5" fmla="*/ 2236206 h 2236206"/>
              <a:gd name="connsiteX6" fmla="*/ 0 w 3414555"/>
              <a:gd name="connsiteY6" fmla="*/ 2185958 h 2236206"/>
              <a:gd name="connsiteX7" fmla="*/ 0 w 3414555"/>
              <a:gd name="connsiteY7" fmla="*/ 50248 h 2236206"/>
              <a:gd name="connsiteX8" fmla="*/ 50248 w 3414555"/>
              <a:gd name="connsiteY8" fmla="*/ 0 h 2236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4555" h="2236206">
                <a:moveTo>
                  <a:pt x="50248" y="0"/>
                </a:moveTo>
                <a:lnTo>
                  <a:pt x="3364307" y="0"/>
                </a:lnTo>
                <a:cubicBezTo>
                  <a:pt x="3392058" y="0"/>
                  <a:pt x="3414555" y="22497"/>
                  <a:pt x="3414555" y="50248"/>
                </a:cubicBezTo>
                <a:lnTo>
                  <a:pt x="3414555" y="2185958"/>
                </a:lnTo>
                <a:cubicBezTo>
                  <a:pt x="3414555" y="2213709"/>
                  <a:pt x="3392058" y="2236206"/>
                  <a:pt x="3364307" y="2236206"/>
                </a:cubicBezTo>
                <a:lnTo>
                  <a:pt x="50248" y="2236206"/>
                </a:lnTo>
                <a:cubicBezTo>
                  <a:pt x="22497" y="2236206"/>
                  <a:pt x="0" y="2213709"/>
                  <a:pt x="0" y="2185958"/>
                </a:cubicBezTo>
                <a:lnTo>
                  <a:pt x="0" y="50248"/>
                </a:lnTo>
                <a:cubicBezTo>
                  <a:pt x="0" y="22497"/>
                  <a:pt x="22497" y="0"/>
                  <a:pt x="5024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64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D51BACB-5A10-91EB-393D-B24E8BABFE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4" y="2197100"/>
            <a:ext cx="5989637" cy="3441700"/>
          </a:xfrm>
          <a:custGeom>
            <a:avLst/>
            <a:gdLst>
              <a:gd name="connsiteX0" fmla="*/ 103733 w 5989637"/>
              <a:gd name="connsiteY0" fmla="*/ 0 h 3441700"/>
              <a:gd name="connsiteX1" fmla="*/ 5885904 w 5989637"/>
              <a:gd name="connsiteY1" fmla="*/ 0 h 3441700"/>
              <a:gd name="connsiteX2" fmla="*/ 5989637 w 5989637"/>
              <a:gd name="connsiteY2" fmla="*/ 103733 h 3441700"/>
              <a:gd name="connsiteX3" fmla="*/ 5989637 w 5989637"/>
              <a:gd name="connsiteY3" fmla="*/ 3337967 h 3441700"/>
              <a:gd name="connsiteX4" fmla="*/ 5885904 w 5989637"/>
              <a:gd name="connsiteY4" fmla="*/ 3441700 h 3441700"/>
              <a:gd name="connsiteX5" fmla="*/ 103733 w 5989637"/>
              <a:gd name="connsiteY5" fmla="*/ 3441700 h 3441700"/>
              <a:gd name="connsiteX6" fmla="*/ 0 w 5989637"/>
              <a:gd name="connsiteY6" fmla="*/ 3337967 h 3441700"/>
              <a:gd name="connsiteX7" fmla="*/ 0 w 5989637"/>
              <a:gd name="connsiteY7" fmla="*/ 103733 h 3441700"/>
              <a:gd name="connsiteX8" fmla="*/ 103733 w 5989637"/>
              <a:gd name="connsiteY8" fmla="*/ 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89637" h="3441700">
                <a:moveTo>
                  <a:pt x="103733" y="0"/>
                </a:moveTo>
                <a:lnTo>
                  <a:pt x="5885904" y="0"/>
                </a:lnTo>
                <a:cubicBezTo>
                  <a:pt x="5943194" y="0"/>
                  <a:pt x="5989637" y="46443"/>
                  <a:pt x="5989637" y="103733"/>
                </a:cubicBezTo>
                <a:lnTo>
                  <a:pt x="5989637" y="3337967"/>
                </a:lnTo>
                <a:cubicBezTo>
                  <a:pt x="5989637" y="3395257"/>
                  <a:pt x="5943194" y="3441700"/>
                  <a:pt x="5885904" y="3441700"/>
                </a:cubicBezTo>
                <a:lnTo>
                  <a:pt x="103733" y="3441700"/>
                </a:lnTo>
                <a:cubicBezTo>
                  <a:pt x="46443" y="3441700"/>
                  <a:pt x="0" y="3395257"/>
                  <a:pt x="0" y="3337967"/>
                </a:cubicBezTo>
                <a:lnTo>
                  <a:pt x="0" y="103733"/>
                </a:lnTo>
                <a:cubicBezTo>
                  <a:pt x="0" y="46443"/>
                  <a:pt x="46443" y="0"/>
                  <a:pt x="1037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82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F3B8FFC-5B01-EF00-C2DA-6046AEF361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96460" y="3251200"/>
            <a:ext cx="2484582" cy="4599709"/>
          </a:xfrm>
          <a:custGeom>
            <a:avLst/>
            <a:gdLst>
              <a:gd name="connsiteX0" fmla="*/ 183188 w 2484582"/>
              <a:gd name="connsiteY0" fmla="*/ 0 h 4599709"/>
              <a:gd name="connsiteX1" fmla="*/ 2301394 w 2484582"/>
              <a:gd name="connsiteY1" fmla="*/ 0 h 4599709"/>
              <a:gd name="connsiteX2" fmla="*/ 2484582 w 2484582"/>
              <a:gd name="connsiteY2" fmla="*/ 183188 h 4599709"/>
              <a:gd name="connsiteX3" fmla="*/ 2484582 w 2484582"/>
              <a:gd name="connsiteY3" fmla="*/ 4416521 h 4599709"/>
              <a:gd name="connsiteX4" fmla="*/ 2301394 w 2484582"/>
              <a:gd name="connsiteY4" fmla="*/ 4599709 h 4599709"/>
              <a:gd name="connsiteX5" fmla="*/ 183188 w 2484582"/>
              <a:gd name="connsiteY5" fmla="*/ 4599709 h 4599709"/>
              <a:gd name="connsiteX6" fmla="*/ 0 w 2484582"/>
              <a:gd name="connsiteY6" fmla="*/ 4416521 h 4599709"/>
              <a:gd name="connsiteX7" fmla="*/ 0 w 2484582"/>
              <a:gd name="connsiteY7" fmla="*/ 183188 h 4599709"/>
              <a:gd name="connsiteX8" fmla="*/ 183188 w 2484582"/>
              <a:gd name="connsiteY8" fmla="*/ 0 h 4599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4582" h="4599709">
                <a:moveTo>
                  <a:pt x="183188" y="0"/>
                </a:moveTo>
                <a:lnTo>
                  <a:pt x="2301394" y="0"/>
                </a:lnTo>
                <a:cubicBezTo>
                  <a:pt x="2402566" y="0"/>
                  <a:pt x="2484582" y="82016"/>
                  <a:pt x="2484582" y="183188"/>
                </a:cubicBezTo>
                <a:lnTo>
                  <a:pt x="2484582" y="4416521"/>
                </a:lnTo>
                <a:cubicBezTo>
                  <a:pt x="2484582" y="4517693"/>
                  <a:pt x="2402566" y="4599709"/>
                  <a:pt x="2301394" y="4599709"/>
                </a:cubicBezTo>
                <a:lnTo>
                  <a:pt x="183188" y="4599709"/>
                </a:lnTo>
                <a:cubicBezTo>
                  <a:pt x="82016" y="4599709"/>
                  <a:pt x="0" y="4517693"/>
                  <a:pt x="0" y="4416521"/>
                </a:cubicBezTo>
                <a:lnTo>
                  <a:pt x="0" y="183188"/>
                </a:lnTo>
                <a:cubicBezTo>
                  <a:pt x="0" y="82016"/>
                  <a:pt x="82016" y="0"/>
                  <a:pt x="1831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56DE2C7-41C1-71D4-DE98-F947C33CCF8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1293" y="3251200"/>
            <a:ext cx="2484582" cy="4599709"/>
          </a:xfrm>
          <a:custGeom>
            <a:avLst/>
            <a:gdLst>
              <a:gd name="connsiteX0" fmla="*/ 183188 w 2484582"/>
              <a:gd name="connsiteY0" fmla="*/ 0 h 4599709"/>
              <a:gd name="connsiteX1" fmla="*/ 2301394 w 2484582"/>
              <a:gd name="connsiteY1" fmla="*/ 0 h 4599709"/>
              <a:gd name="connsiteX2" fmla="*/ 2484582 w 2484582"/>
              <a:gd name="connsiteY2" fmla="*/ 183188 h 4599709"/>
              <a:gd name="connsiteX3" fmla="*/ 2484582 w 2484582"/>
              <a:gd name="connsiteY3" fmla="*/ 4416521 h 4599709"/>
              <a:gd name="connsiteX4" fmla="*/ 2301394 w 2484582"/>
              <a:gd name="connsiteY4" fmla="*/ 4599709 h 4599709"/>
              <a:gd name="connsiteX5" fmla="*/ 183188 w 2484582"/>
              <a:gd name="connsiteY5" fmla="*/ 4599709 h 4599709"/>
              <a:gd name="connsiteX6" fmla="*/ 0 w 2484582"/>
              <a:gd name="connsiteY6" fmla="*/ 4416521 h 4599709"/>
              <a:gd name="connsiteX7" fmla="*/ 0 w 2484582"/>
              <a:gd name="connsiteY7" fmla="*/ 183188 h 4599709"/>
              <a:gd name="connsiteX8" fmla="*/ 183188 w 2484582"/>
              <a:gd name="connsiteY8" fmla="*/ 0 h 4599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4582" h="4599709">
                <a:moveTo>
                  <a:pt x="183188" y="0"/>
                </a:moveTo>
                <a:lnTo>
                  <a:pt x="2301394" y="0"/>
                </a:lnTo>
                <a:cubicBezTo>
                  <a:pt x="2402566" y="0"/>
                  <a:pt x="2484582" y="82016"/>
                  <a:pt x="2484582" y="183188"/>
                </a:cubicBezTo>
                <a:lnTo>
                  <a:pt x="2484582" y="4416521"/>
                </a:lnTo>
                <a:cubicBezTo>
                  <a:pt x="2484582" y="4517693"/>
                  <a:pt x="2402566" y="4599709"/>
                  <a:pt x="2301394" y="4599709"/>
                </a:cubicBezTo>
                <a:lnTo>
                  <a:pt x="183188" y="4599709"/>
                </a:lnTo>
                <a:cubicBezTo>
                  <a:pt x="82016" y="4599709"/>
                  <a:pt x="0" y="4517693"/>
                  <a:pt x="0" y="4416521"/>
                </a:cubicBezTo>
                <a:lnTo>
                  <a:pt x="0" y="183188"/>
                </a:lnTo>
                <a:cubicBezTo>
                  <a:pt x="0" y="82016"/>
                  <a:pt x="82016" y="0"/>
                  <a:pt x="1831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D5450C6-1C85-C5E5-C6BC-7F7F5F8964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06126" y="3251200"/>
            <a:ext cx="2484582" cy="4599709"/>
          </a:xfrm>
          <a:custGeom>
            <a:avLst/>
            <a:gdLst>
              <a:gd name="connsiteX0" fmla="*/ 183188 w 2484582"/>
              <a:gd name="connsiteY0" fmla="*/ 0 h 4599709"/>
              <a:gd name="connsiteX1" fmla="*/ 2301394 w 2484582"/>
              <a:gd name="connsiteY1" fmla="*/ 0 h 4599709"/>
              <a:gd name="connsiteX2" fmla="*/ 2484582 w 2484582"/>
              <a:gd name="connsiteY2" fmla="*/ 183188 h 4599709"/>
              <a:gd name="connsiteX3" fmla="*/ 2484582 w 2484582"/>
              <a:gd name="connsiteY3" fmla="*/ 4416521 h 4599709"/>
              <a:gd name="connsiteX4" fmla="*/ 2301394 w 2484582"/>
              <a:gd name="connsiteY4" fmla="*/ 4599709 h 4599709"/>
              <a:gd name="connsiteX5" fmla="*/ 183188 w 2484582"/>
              <a:gd name="connsiteY5" fmla="*/ 4599709 h 4599709"/>
              <a:gd name="connsiteX6" fmla="*/ 0 w 2484582"/>
              <a:gd name="connsiteY6" fmla="*/ 4416521 h 4599709"/>
              <a:gd name="connsiteX7" fmla="*/ 0 w 2484582"/>
              <a:gd name="connsiteY7" fmla="*/ 183188 h 4599709"/>
              <a:gd name="connsiteX8" fmla="*/ 183188 w 2484582"/>
              <a:gd name="connsiteY8" fmla="*/ 0 h 4599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4582" h="4599709">
                <a:moveTo>
                  <a:pt x="183188" y="0"/>
                </a:moveTo>
                <a:lnTo>
                  <a:pt x="2301394" y="0"/>
                </a:lnTo>
                <a:cubicBezTo>
                  <a:pt x="2402566" y="0"/>
                  <a:pt x="2484582" y="82016"/>
                  <a:pt x="2484582" y="183188"/>
                </a:cubicBezTo>
                <a:lnTo>
                  <a:pt x="2484582" y="4416521"/>
                </a:lnTo>
                <a:cubicBezTo>
                  <a:pt x="2484582" y="4517693"/>
                  <a:pt x="2402566" y="4599709"/>
                  <a:pt x="2301394" y="4599709"/>
                </a:cubicBezTo>
                <a:lnTo>
                  <a:pt x="183188" y="4599709"/>
                </a:lnTo>
                <a:cubicBezTo>
                  <a:pt x="82016" y="4599709"/>
                  <a:pt x="0" y="4517693"/>
                  <a:pt x="0" y="4416521"/>
                </a:cubicBezTo>
                <a:lnTo>
                  <a:pt x="0" y="183188"/>
                </a:lnTo>
                <a:cubicBezTo>
                  <a:pt x="0" y="82016"/>
                  <a:pt x="82016" y="0"/>
                  <a:pt x="1831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B9DDBF0-07F7-F628-F768-5751E7985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0959" y="3251200"/>
            <a:ext cx="2484582" cy="4599709"/>
          </a:xfrm>
          <a:custGeom>
            <a:avLst/>
            <a:gdLst>
              <a:gd name="connsiteX0" fmla="*/ 183188 w 2484582"/>
              <a:gd name="connsiteY0" fmla="*/ 0 h 4599709"/>
              <a:gd name="connsiteX1" fmla="*/ 2301394 w 2484582"/>
              <a:gd name="connsiteY1" fmla="*/ 0 h 4599709"/>
              <a:gd name="connsiteX2" fmla="*/ 2484582 w 2484582"/>
              <a:gd name="connsiteY2" fmla="*/ 183188 h 4599709"/>
              <a:gd name="connsiteX3" fmla="*/ 2484582 w 2484582"/>
              <a:gd name="connsiteY3" fmla="*/ 4416521 h 4599709"/>
              <a:gd name="connsiteX4" fmla="*/ 2301394 w 2484582"/>
              <a:gd name="connsiteY4" fmla="*/ 4599709 h 4599709"/>
              <a:gd name="connsiteX5" fmla="*/ 183188 w 2484582"/>
              <a:gd name="connsiteY5" fmla="*/ 4599709 h 4599709"/>
              <a:gd name="connsiteX6" fmla="*/ 0 w 2484582"/>
              <a:gd name="connsiteY6" fmla="*/ 4416521 h 4599709"/>
              <a:gd name="connsiteX7" fmla="*/ 0 w 2484582"/>
              <a:gd name="connsiteY7" fmla="*/ 183188 h 4599709"/>
              <a:gd name="connsiteX8" fmla="*/ 183188 w 2484582"/>
              <a:gd name="connsiteY8" fmla="*/ 0 h 4599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4582" h="4599709">
                <a:moveTo>
                  <a:pt x="183188" y="0"/>
                </a:moveTo>
                <a:lnTo>
                  <a:pt x="2301394" y="0"/>
                </a:lnTo>
                <a:cubicBezTo>
                  <a:pt x="2402566" y="0"/>
                  <a:pt x="2484582" y="82016"/>
                  <a:pt x="2484582" y="183188"/>
                </a:cubicBezTo>
                <a:lnTo>
                  <a:pt x="2484582" y="4416521"/>
                </a:lnTo>
                <a:cubicBezTo>
                  <a:pt x="2484582" y="4517693"/>
                  <a:pt x="2402566" y="4599709"/>
                  <a:pt x="2301394" y="4599709"/>
                </a:cubicBezTo>
                <a:lnTo>
                  <a:pt x="183188" y="4599709"/>
                </a:lnTo>
                <a:cubicBezTo>
                  <a:pt x="82016" y="4599709"/>
                  <a:pt x="0" y="4517693"/>
                  <a:pt x="0" y="4416521"/>
                </a:cubicBezTo>
                <a:lnTo>
                  <a:pt x="0" y="183188"/>
                </a:lnTo>
                <a:cubicBezTo>
                  <a:pt x="0" y="82016"/>
                  <a:pt x="82016" y="0"/>
                  <a:pt x="1831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032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C3BC3C-A481-42A5-12A6-80F7B123D7C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4" y="901700"/>
            <a:ext cx="5545137" cy="5335588"/>
          </a:xfrm>
          <a:custGeom>
            <a:avLst/>
            <a:gdLst>
              <a:gd name="connsiteX0" fmla="*/ 364101 w 5545137"/>
              <a:gd name="connsiteY0" fmla="*/ 0 h 5335588"/>
              <a:gd name="connsiteX1" fmla="*/ 5181036 w 5545137"/>
              <a:gd name="connsiteY1" fmla="*/ 0 h 5335588"/>
              <a:gd name="connsiteX2" fmla="*/ 5545137 w 5545137"/>
              <a:gd name="connsiteY2" fmla="*/ 364101 h 5335588"/>
              <a:gd name="connsiteX3" fmla="*/ 5545137 w 5545137"/>
              <a:gd name="connsiteY3" fmla="*/ 4971487 h 5335588"/>
              <a:gd name="connsiteX4" fmla="*/ 5181036 w 5545137"/>
              <a:gd name="connsiteY4" fmla="*/ 5335588 h 5335588"/>
              <a:gd name="connsiteX5" fmla="*/ 364101 w 5545137"/>
              <a:gd name="connsiteY5" fmla="*/ 5335588 h 5335588"/>
              <a:gd name="connsiteX6" fmla="*/ 0 w 5545137"/>
              <a:gd name="connsiteY6" fmla="*/ 4971487 h 5335588"/>
              <a:gd name="connsiteX7" fmla="*/ 0 w 5545137"/>
              <a:gd name="connsiteY7" fmla="*/ 364101 h 5335588"/>
              <a:gd name="connsiteX8" fmla="*/ 364101 w 5545137"/>
              <a:gd name="connsiteY8" fmla="*/ 0 h 533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5137" h="5335588">
                <a:moveTo>
                  <a:pt x="364101" y="0"/>
                </a:moveTo>
                <a:lnTo>
                  <a:pt x="5181036" y="0"/>
                </a:lnTo>
                <a:cubicBezTo>
                  <a:pt x="5382123" y="0"/>
                  <a:pt x="5545137" y="163014"/>
                  <a:pt x="5545137" y="364101"/>
                </a:cubicBezTo>
                <a:lnTo>
                  <a:pt x="5545137" y="4971487"/>
                </a:lnTo>
                <a:cubicBezTo>
                  <a:pt x="5545137" y="5172574"/>
                  <a:pt x="5382123" y="5335588"/>
                  <a:pt x="5181036" y="5335588"/>
                </a:cubicBezTo>
                <a:lnTo>
                  <a:pt x="364101" y="5335588"/>
                </a:lnTo>
                <a:cubicBezTo>
                  <a:pt x="163014" y="5335588"/>
                  <a:pt x="0" y="5172574"/>
                  <a:pt x="0" y="4971487"/>
                </a:cubicBezTo>
                <a:lnTo>
                  <a:pt x="0" y="364101"/>
                </a:lnTo>
                <a:cubicBezTo>
                  <a:pt x="0" y="163014"/>
                  <a:pt x="163014" y="0"/>
                  <a:pt x="3641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21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881D-00FF-CD74-2342-F4884F41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DFE96-9A92-BE0B-21A0-A483EE083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86350-4FFD-7C3A-CDD6-7A985F1DC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02288-B0F8-A3B5-36C7-BA333FD5E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2874-B560-46B3-9547-E7A87192D856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4A260-F6F0-CDAC-C2B3-9EE3ADD6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23088-B89C-48B5-58C6-B8B3C783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839-D2D4-4515-A7DA-B147BD92C0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68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7E90-E282-0985-0212-7813F993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70C4EF-618F-252E-D1D3-0FCCAFC41D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DDE0C-5211-1C67-876B-7A60B19EA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4D18C-C880-735A-FE97-4C135B232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2874-B560-46B3-9547-E7A87192D856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E64DE-943C-8C9E-CAF2-324914E47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6E0A6-5157-0653-A180-88818F71F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839-D2D4-4515-A7DA-B147BD92C0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446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AFDF9-86D0-E8C3-A65D-69B301CA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A6A5D-F64D-21C6-CCCB-849496D1E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535C9-77D5-3890-AA1F-5CE6163E8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2874-B560-46B3-9547-E7A87192D856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262C9-9282-FE71-65BD-C935267E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C3831-7C36-8FFE-6E03-56B29EBF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839-D2D4-4515-A7DA-B147BD92C0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98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94FBF8-81F9-E9B3-88D6-BCA363BFB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12E74-B859-959E-D76F-313EE1D9D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1A52B-91CF-E7C7-A9E4-3636E0D6D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2874-B560-46B3-9547-E7A87192D856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88AB1-B91D-E6DD-4A83-600429D7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19510-9478-C5B0-E68C-D62FD8BC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839-D2D4-4515-A7DA-B147BD92C0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948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B1570C-6704-B863-3756-86DF120D4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488B6-304E-C05D-3724-645FE36B6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EB47A-7712-E67A-9483-A86F9C5D8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C22874-B560-46B3-9547-E7A87192D856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49121-C5D0-08E4-55AA-C8F93C289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F45D9-C34C-141F-2003-CB477E00D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DF839-D2D4-4515-A7DA-B147BD92C0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61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7D648F-F9B8-71BD-2616-CC81369FD7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DB2E81-E05A-C705-9F55-6DD549CA8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244406"/>
            <a:ext cx="4724400" cy="16430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30E407-CCE2-4B92-40ED-9CFC799ED197}"/>
              </a:ext>
            </a:extLst>
          </p:cNvPr>
          <p:cNvSpPr txBox="1"/>
          <p:nvPr/>
        </p:nvSpPr>
        <p:spPr>
          <a:xfrm>
            <a:off x="-727342" y="5760225"/>
            <a:ext cx="4061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ADARSH JHA</a:t>
            </a:r>
            <a:endParaRPr lang="en-IN" sz="36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843677-0D7C-5D64-39CD-0290A51294CD}"/>
              </a:ext>
            </a:extLst>
          </p:cNvPr>
          <p:cNvSpPr txBox="1"/>
          <p:nvPr/>
        </p:nvSpPr>
        <p:spPr>
          <a:xfrm>
            <a:off x="106563" y="6318767"/>
            <a:ext cx="6455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Date: </a:t>
            </a:r>
            <a:r>
              <a:rPr lang="en-IN" b="1" i="1" dirty="0">
                <a:solidFill>
                  <a:schemeClr val="bg1"/>
                </a:solidFill>
              </a:rPr>
              <a:t>October 2025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C10A6-C37E-D9E0-AD6D-9FCDC47CCFF1}"/>
              </a:ext>
            </a:extLst>
          </p:cNvPr>
          <p:cNvSpPr txBox="1"/>
          <p:nvPr/>
        </p:nvSpPr>
        <p:spPr>
          <a:xfrm>
            <a:off x="8423130" y="6426434"/>
            <a:ext cx="6510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Tool Used: </a:t>
            </a:r>
            <a:r>
              <a:rPr lang="en-GB" b="1" i="1" dirty="0">
                <a:solidFill>
                  <a:schemeClr val="bg1"/>
                </a:solidFill>
              </a:rPr>
              <a:t>MySQL, Power BI / Excel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518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2E075A3-F17B-DDDD-11A0-CC807C4685E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-129209" y="139148"/>
            <a:ext cx="12192000" cy="6858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F85F109-0238-B21B-4DDD-E61643397D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04210C7-B97D-334F-2DFD-948AE5AB32A8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65FB1ED-27DF-49EA-68FB-69710AE58D02}"/>
              </a:ext>
            </a:extLst>
          </p:cNvPr>
          <p:cNvSpPr txBox="1"/>
          <p:nvPr/>
        </p:nvSpPr>
        <p:spPr>
          <a:xfrm>
            <a:off x="3595730" y="784125"/>
            <a:ext cx="47421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PROJECT OVERVIEW</a:t>
            </a:r>
            <a:endParaRPr lang="en-IN" sz="32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52ADE4-21AE-4FA8-AE05-9DEC18C62009}"/>
              </a:ext>
            </a:extLst>
          </p:cNvPr>
          <p:cNvSpPr txBox="1"/>
          <p:nvPr/>
        </p:nvSpPr>
        <p:spPr>
          <a:xfrm>
            <a:off x="129209" y="2013876"/>
            <a:ext cx="1193358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This project provides a comprehensive analysis of Uber ride data for the </a:t>
            </a:r>
            <a:r>
              <a:rPr lang="en-GB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NCR region  2024 using SQL &amp; Power BI</a:t>
            </a:r>
            <a:r>
              <a:rPr lang="en-GB" sz="2800" b="1" dirty="0">
                <a:solidFill>
                  <a:schemeClr val="bg1"/>
                </a:solidFill>
              </a:rPr>
              <a:t>. The analysis covers key business metrics, trends, and insights including bookings, cancellations, performance, revenue, and customer/driver ratings. The goal is to help Uber or ride-hailing stakeholders make data-driven decisions by identifying trends, peak times, common cancellation reasons, revenue patterns, and service performance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961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41DA5-8D38-34A7-D03D-5E681AA52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AC317A6-8C18-E029-D0BF-2DC669F627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1380E04-6B36-C64E-617A-C2D888DDD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3E9CDE6-D15D-BCAB-9ECD-50C11F3D25C8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828AC16-6F1A-D06F-2F1A-59832E5DF68B}"/>
              </a:ext>
            </a:extLst>
          </p:cNvPr>
          <p:cNvSpPr txBox="1"/>
          <p:nvPr/>
        </p:nvSpPr>
        <p:spPr>
          <a:xfrm>
            <a:off x="253728" y="2413337"/>
            <a:ext cx="119382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PART 1</a:t>
            </a:r>
            <a:r>
              <a:rPr lang="en-GB" sz="2800" dirty="0">
                <a:solidFill>
                  <a:schemeClr val="bg1"/>
                </a:solidFill>
              </a:rPr>
              <a:t>: </a:t>
            </a:r>
            <a:r>
              <a:rPr lang="en-GB" sz="2800" b="1" dirty="0">
                <a:solidFill>
                  <a:schemeClr val="bg1"/>
                </a:solidFill>
              </a:rPr>
              <a:t>Advanced SQL Analysis Conducted an in-depth analysis of Uber ride data using Advanced SQL queries to extract meaningful business insights and identify key performance trends.</a:t>
            </a:r>
          </a:p>
        </p:txBody>
      </p:sp>
    </p:spTree>
    <p:extLst>
      <p:ext uri="{BB962C8B-B14F-4D97-AF65-F5344CB8AC3E}">
        <p14:creationId xmlns:p14="http://schemas.microsoft.com/office/powerpoint/2010/main" val="3654783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8CD89-E83E-C5F2-9BF0-0F000FF3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596913B-361F-9DA7-84DC-8BD15D7C81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1078812-1C3A-FE9E-57AE-505C82E109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4709C7-5D8D-528B-BF4E-50D073FA0B61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1D1A84-2F78-D522-E17B-4510E87FF1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59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79368-0A85-8395-D1DA-3A1BD85A3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A75CFA7-FC0D-9EED-9997-F1FD81C503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-42686"/>
            <a:ext cx="12192000" cy="6858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F32C16D-2414-CD73-7EAC-A9B1E306D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C94A49C-3F50-F96E-02B5-25A04399C5FB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3844991-CE0A-79CC-EE5D-EBEDEB7BF68D}"/>
              </a:ext>
            </a:extLst>
          </p:cNvPr>
          <p:cNvSpPr txBox="1"/>
          <p:nvPr/>
        </p:nvSpPr>
        <p:spPr>
          <a:xfrm>
            <a:off x="550863" y="0"/>
            <a:ext cx="114875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What is the total revenue generated from all bookings</a:t>
            </a:r>
          </a:p>
        </p:txBody>
      </p:sp>
      <p:pic>
        <p:nvPicPr>
          <p:cNvPr id="6" name="Picture 5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674C2EF8-256E-963C-6C27-59586ADD34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530" y="1724690"/>
            <a:ext cx="5196994" cy="144088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F9817E-A192-FC36-316B-4E3DFB7531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900" y="3692421"/>
            <a:ext cx="1834720" cy="71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6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CD5B3-7D70-B802-C872-D5BE700C3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3935C3-CE8F-2562-6E60-DFE4620F83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6F45507-A47A-F0FE-6D83-2D92FDC3602D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AD85B52-05F8-39CF-3ADB-4270FFBD0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C938D7-D9C9-53FC-406C-E483A8E12EAC}"/>
              </a:ext>
            </a:extLst>
          </p:cNvPr>
          <p:cNvSpPr txBox="1"/>
          <p:nvPr/>
        </p:nvSpPr>
        <p:spPr>
          <a:xfrm>
            <a:off x="799394" y="35938"/>
            <a:ext cx="109010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FF0000"/>
                </a:solidFill>
              </a:defRPr>
            </a:lvl1pPr>
          </a:lstStyle>
          <a:p>
            <a:pPr algn="ctr"/>
            <a:r>
              <a:rPr lang="en-IN" dirty="0"/>
              <a:t>How many bookings were successfully completed</a:t>
            </a:r>
          </a:p>
        </p:txBody>
      </p:sp>
      <p:pic>
        <p:nvPicPr>
          <p:cNvPr id="8" name="Picture 7" descr="A computer code with text&#10;&#10;AI-generated content may be incorrect.">
            <a:extLst>
              <a:ext uri="{FF2B5EF4-FFF2-40B4-BE49-F238E27FC236}">
                <a16:creationId xmlns:a16="http://schemas.microsoft.com/office/drawing/2014/main" id="{DF9B9326-F4F3-6C8B-12C6-3E911227B7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529" y="1700829"/>
            <a:ext cx="4762757" cy="1744215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682F6E-404C-DC38-3032-405ABDCBBA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275" y="4313014"/>
            <a:ext cx="2331586" cy="80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26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4CA8C-D4C1-BBAB-A1F4-72E014A3D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D14390-0712-F7B7-C2C8-D948A4C730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DAEDE8-8F57-2479-D00E-515D374208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D09C314-8F0E-9F80-C128-F630DC90565D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6B7764A-11F6-3D5C-65B6-EB0C178BEC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379" y="3927924"/>
            <a:ext cx="2018571" cy="76022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EA6CA18-3587-268D-8D9D-1A1741D1D327}"/>
              </a:ext>
            </a:extLst>
          </p:cNvPr>
          <p:cNvSpPr txBox="1"/>
          <p:nvPr/>
        </p:nvSpPr>
        <p:spPr>
          <a:xfrm>
            <a:off x="822797" y="35938"/>
            <a:ext cx="101142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 What is the average ride distance (in kilometers)</a:t>
            </a:r>
          </a:p>
        </p:txBody>
      </p:sp>
      <p:pic>
        <p:nvPicPr>
          <p:cNvPr id="22" name="Picture 21" descr="A close-up of a text&#10;&#10;AI-generated content may be incorrect.">
            <a:extLst>
              <a:ext uri="{FF2B5EF4-FFF2-40B4-BE49-F238E27FC236}">
                <a16:creationId xmlns:a16="http://schemas.microsoft.com/office/drawing/2014/main" id="{AB88774E-F34F-AFAC-FFB6-2238135964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652" y="1758074"/>
            <a:ext cx="5356513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88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F926-1251-B270-0058-37CF8C74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67D6E7-D6FA-82D4-7DDC-A083E8BB973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8667A69-BEBD-154E-4F37-AEB4E0A55511}"/>
              </a:ext>
            </a:extLst>
          </p:cNvPr>
          <p:cNvSpPr>
            <a:spLocks/>
          </p:cNvSpPr>
          <p:nvPr/>
        </p:nvSpPr>
        <p:spPr>
          <a:xfrm>
            <a:off x="8146739" y="4600659"/>
            <a:ext cx="3821565" cy="1469934"/>
          </a:xfrm>
          <a:prstGeom prst="roundRect">
            <a:avLst>
              <a:gd name="adj" fmla="val 524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876DBCF-79BE-0A15-FABF-3CA92081F561}"/>
              </a:ext>
            </a:extLst>
          </p:cNvPr>
          <p:cNvSpPr>
            <a:spLocks/>
          </p:cNvSpPr>
          <p:nvPr/>
        </p:nvSpPr>
        <p:spPr>
          <a:xfrm>
            <a:off x="4271855" y="4600659"/>
            <a:ext cx="3821565" cy="1469934"/>
          </a:xfrm>
          <a:prstGeom prst="roundRect">
            <a:avLst>
              <a:gd name="adj" fmla="val 524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D9BF23B-70D1-3343-9BA4-DBD5592B0FCE}"/>
              </a:ext>
            </a:extLst>
          </p:cNvPr>
          <p:cNvSpPr>
            <a:spLocks/>
          </p:cNvSpPr>
          <p:nvPr/>
        </p:nvSpPr>
        <p:spPr>
          <a:xfrm>
            <a:off x="396972" y="4600659"/>
            <a:ext cx="3821565" cy="1469934"/>
          </a:xfrm>
          <a:prstGeom prst="roundRect">
            <a:avLst>
              <a:gd name="adj" fmla="val 524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BC0947F-A3F1-FA23-934B-105136BB9E30}"/>
              </a:ext>
            </a:extLst>
          </p:cNvPr>
          <p:cNvSpPr>
            <a:spLocks/>
          </p:cNvSpPr>
          <p:nvPr/>
        </p:nvSpPr>
        <p:spPr>
          <a:xfrm>
            <a:off x="8146739" y="3067134"/>
            <a:ext cx="3821565" cy="1469934"/>
          </a:xfrm>
          <a:prstGeom prst="roundRect">
            <a:avLst>
              <a:gd name="adj" fmla="val 524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23E4D56-061D-EA00-CCF5-327CA4BAE521}"/>
              </a:ext>
            </a:extLst>
          </p:cNvPr>
          <p:cNvSpPr>
            <a:spLocks/>
          </p:cNvSpPr>
          <p:nvPr/>
        </p:nvSpPr>
        <p:spPr>
          <a:xfrm>
            <a:off x="396972" y="3067134"/>
            <a:ext cx="3821565" cy="1469934"/>
          </a:xfrm>
          <a:prstGeom prst="roundRect">
            <a:avLst>
              <a:gd name="adj" fmla="val 524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594B4BEB-5534-B133-89A2-78D5B68F9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587036B-20FA-16DC-9A4C-B25D38AE895F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A58DF7C-B323-7DA5-7941-B8AEA9363397}"/>
              </a:ext>
            </a:extLst>
          </p:cNvPr>
          <p:cNvSpPr txBox="1"/>
          <p:nvPr/>
        </p:nvSpPr>
        <p:spPr>
          <a:xfrm>
            <a:off x="899311" y="25305"/>
            <a:ext cx="10092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What is the average trip duration (in minutes)</a:t>
            </a:r>
          </a:p>
        </p:txBody>
      </p:sp>
      <p:pic>
        <p:nvPicPr>
          <p:cNvPr id="13" name="Picture 12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2290FE14-42AD-48DA-1CC5-E212579F8D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8" y="1793209"/>
            <a:ext cx="4812528" cy="1599727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08D9D0-CFC6-F03E-8054-AA5D1265C7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144" y="4000567"/>
            <a:ext cx="1988118" cy="71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0BF1D-4279-4987-B8EE-31CBEB6DD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0725D4-6E99-2732-DE7F-A7E379EACF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CB18E40-8816-E076-A909-86BD22723CE0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7AE75B0-5220-1F95-B894-699865037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01BCCF-A25C-CB11-BC4A-08C7DB802D08}"/>
              </a:ext>
            </a:extLst>
          </p:cNvPr>
          <p:cNvSpPr txBox="1"/>
          <p:nvPr/>
        </p:nvSpPr>
        <p:spPr>
          <a:xfrm>
            <a:off x="2995723" y="2935990"/>
            <a:ext cx="6204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are the total monthly sales trends throughout the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9271F7-A4B7-3B44-996E-9C6A2CBA8A96}"/>
              </a:ext>
            </a:extLst>
          </p:cNvPr>
          <p:cNvSpPr txBox="1"/>
          <p:nvPr/>
        </p:nvSpPr>
        <p:spPr>
          <a:xfrm>
            <a:off x="828376" y="35938"/>
            <a:ext cx="113050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What are the total monthly sales trends throughout the year</a:t>
            </a:r>
          </a:p>
        </p:txBody>
      </p:sp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E1B4370-188D-403B-1CB2-FA46D8BC94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563" y="1529828"/>
            <a:ext cx="5880691" cy="2642272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115F43-1462-9049-4A64-4DA2B23147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17" y="4172100"/>
            <a:ext cx="2133564" cy="255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57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0771D9B-C019-9873-7818-871C76C18BCA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FC37251-85D3-9666-1131-09F8BEB92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DBFF98-BC9F-1915-6214-6F9E28B99F60}"/>
              </a:ext>
            </a:extLst>
          </p:cNvPr>
          <p:cNvSpPr txBox="1"/>
          <p:nvPr/>
        </p:nvSpPr>
        <p:spPr>
          <a:xfrm>
            <a:off x="3048886" y="330281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is the total revenue contribution by each vehicle 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9B39EF-32BB-1236-2FEE-C497255EEA48}"/>
              </a:ext>
            </a:extLst>
          </p:cNvPr>
          <p:cNvSpPr txBox="1"/>
          <p:nvPr/>
        </p:nvSpPr>
        <p:spPr>
          <a:xfrm>
            <a:off x="706179" y="0"/>
            <a:ext cx="114858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What is the total revenue contribution by each vehicle type</a:t>
            </a: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D12E78-199A-BCF2-12E3-2D19437392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967" y="4348718"/>
            <a:ext cx="2413591" cy="1923795"/>
          </a:xfrm>
          <a:prstGeom prst="rect">
            <a:avLst/>
          </a:prstGeom>
        </p:spPr>
      </p:pic>
      <p:pic>
        <p:nvPicPr>
          <p:cNvPr id="17" name="Picture 1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FCA6885-0E12-4B22-C530-5A9128391B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986" y="1485554"/>
            <a:ext cx="5297672" cy="248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16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02E5F-2692-EAD0-D66B-4260338C4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0FE854-6048-0545-03AA-88CA1A7276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21566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8A7573E-E980-FC79-0934-C47F818CC2AB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05AA422-74A2-BDFA-3C80-7CA6E033B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9EF874-434E-B42B-0896-29115E78D72F}"/>
              </a:ext>
            </a:extLst>
          </p:cNvPr>
          <p:cNvSpPr txBox="1"/>
          <p:nvPr/>
        </p:nvSpPr>
        <p:spPr>
          <a:xfrm>
            <a:off x="591493" y="21566"/>
            <a:ext cx="113582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What is the total revenue distribution by payment method</a:t>
            </a:r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6BBDEE8-206A-4AD3-3520-5FAE70B9A2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54" y="1582416"/>
            <a:ext cx="5320479" cy="2574913"/>
          </a:xfrm>
          <a:prstGeom prst="rect">
            <a:avLst/>
          </a:prstGeom>
        </p:spPr>
      </p:pic>
      <p:pic>
        <p:nvPicPr>
          <p:cNvPr id="16" name="Picture 1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2352B29-0A45-9550-2BE1-6229D97397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430" y="4723410"/>
            <a:ext cx="2278824" cy="171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438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0CDC3-8A62-A19C-0818-878F4F44E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3FF8AF-626E-4442-554A-BC6817EEEF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-308344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6E5633-2332-8980-EE0E-65956FCE9E2F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136BDEC-D185-A2FF-A780-016EAFB0F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8F17B7-1956-616D-FE21-C27BA482A61B}"/>
              </a:ext>
            </a:extLst>
          </p:cNvPr>
          <p:cNvSpPr txBox="1"/>
          <p:nvPr/>
        </p:nvSpPr>
        <p:spPr>
          <a:xfrm>
            <a:off x="591493" y="35938"/>
            <a:ext cx="114858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What is the total number of completed rides for each month</a:t>
            </a:r>
          </a:p>
        </p:txBody>
      </p:sp>
      <p:pic>
        <p:nvPicPr>
          <p:cNvPr id="9" name="Picture 8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61FD77BF-439F-45AA-A9AC-DA38509074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596" y="1551786"/>
            <a:ext cx="6333460" cy="2977684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BB8EAF-5BC0-8D2C-7DC9-5B00A73F9B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52" y="4020810"/>
            <a:ext cx="1881318" cy="269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91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28FC0-D1FB-D9FF-DEF6-7E71DED58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867656-35ED-CD23-E0FE-18C8A4488E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-up of a building&#10;&#10;AI-generated content may be incorrect.">
            <a:extLst>
              <a:ext uri="{FF2B5EF4-FFF2-40B4-BE49-F238E27FC236}">
                <a16:creationId xmlns:a16="http://schemas.microsoft.com/office/drawing/2014/main" id="{6703C9B0-B3C9-E28F-E709-A8846ED4A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17"/>
          <a:stretch/>
        </p:blipFill>
        <p:spPr>
          <a:xfrm>
            <a:off x="2997200" y="0"/>
            <a:ext cx="91948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07A8468-FF23-3E14-59EA-D2F084E0247E}"/>
              </a:ext>
            </a:extLst>
          </p:cNvPr>
          <p:cNvSpPr/>
          <p:nvPr/>
        </p:nvSpPr>
        <p:spPr>
          <a:xfrm rot="16200000">
            <a:off x="2736850" y="-2736854"/>
            <a:ext cx="6858001" cy="12331703"/>
          </a:xfrm>
          <a:prstGeom prst="rect">
            <a:avLst/>
          </a:prstGeom>
          <a:gradFill>
            <a:gsLst>
              <a:gs pos="0">
                <a:schemeClr val="tx1">
                  <a:alpha val="93000"/>
                </a:schemeClr>
              </a:gs>
              <a:gs pos="44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EF42407-1E00-98D9-CC2B-C3127EFDA3C3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1884F2E-120E-BA07-4364-50B49655C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9D65FF-E74E-47FE-048C-29861FC85EA6}"/>
              </a:ext>
            </a:extLst>
          </p:cNvPr>
          <p:cNvSpPr txBox="1"/>
          <p:nvPr/>
        </p:nvSpPr>
        <p:spPr>
          <a:xfrm>
            <a:off x="900738" y="-6"/>
            <a:ext cx="108292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What percentage of total completed rides belong to each vehicle type</a:t>
            </a:r>
          </a:p>
        </p:txBody>
      </p:sp>
      <p:pic>
        <p:nvPicPr>
          <p:cNvPr id="14" name="Picture 1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E4F3A29-F6AF-67A9-91E8-5372DEC550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701" y="1479951"/>
            <a:ext cx="6210597" cy="3749273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36DC79-79CC-7E07-9122-462193A3DB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093" y="4872681"/>
            <a:ext cx="2684138" cy="181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43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541E58-6015-0642-71B1-55E59503AF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2C2CB9-F2B0-B897-C77D-3BEAC7643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02" y="509339"/>
            <a:ext cx="437914" cy="15229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B208F8-6378-F27B-C4A6-F9EEC90283CA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492A28C-BA9F-9173-5ED8-81DB73AEAD2A}"/>
              </a:ext>
            </a:extLst>
          </p:cNvPr>
          <p:cNvSpPr txBox="1"/>
          <p:nvPr/>
        </p:nvSpPr>
        <p:spPr>
          <a:xfrm>
            <a:off x="653016" y="46878"/>
            <a:ext cx="115389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What is the total number of bookings per month, categorized by weekday and weekend</a:t>
            </a:r>
          </a:p>
        </p:txBody>
      </p:sp>
      <p:pic>
        <p:nvPicPr>
          <p:cNvPr id="11" name="Picture 10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05F0F5CB-D3B6-4E8B-E417-2F10096AC5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642" y="1581054"/>
            <a:ext cx="6140270" cy="3533206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96CB54-599A-AC40-2C6D-61A1A5F92A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28" y="4210493"/>
            <a:ext cx="2850661" cy="249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87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841F0-FE21-2536-5215-730C88AB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4E77AB-2EE8-C07B-01E0-C12DF8CAA5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D36A5EF-AE62-5CD5-6DA8-5C105CA3CEA1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B7DF96D-E59E-53A9-F648-4460BBBC06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96B343B-64DA-5D1F-01C7-E6472E921A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552" y="1624321"/>
            <a:ext cx="5940679" cy="1804679"/>
          </a:xfrm>
          <a:prstGeom prst="rect">
            <a:avLst/>
          </a:prstGeom>
        </p:spPr>
      </p:pic>
      <p:pic>
        <p:nvPicPr>
          <p:cNvPr id="9" name="Picture 8" descr="A close up of a sign&#10;&#10;AI-generated content may be incorrect.">
            <a:extLst>
              <a:ext uri="{FF2B5EF4-FFF2-40B4-BE49-F238E27FC236}">
                <a16:creationId xmlns:a16="http://schemas.microsoft.com/office/drawing/2014/main" id="{E76B6EFB-01EC-DCB9-8E23-2DC79BB254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668" y="4034928"/>
            <a:ext cx="1997191" cy="7390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A5951A-E680-A6FE-8010-A24F31B3740A}"/>
              </a:ext>
            </a:extLst>
          </p:cNvPr>
          <p:cNvSpPr txBox="1"/>
          <p:nvPr/>
        </p:nvSpPr>
        <p:spPr>
          <a:xfrm>
            <a:off x="1300719" y="46878"/>
            <a:ext cx="101823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What is the total number of cancellations (both customer &amp; driver)</a:t>
            </a:r>
          </a:p>
        </p:txBody>
      </p:sp>
    </p:spTree>
    <p:extLst>
      <p:ext uri="{BB962C8B-B14F-4D97-AF65-F5344CB8AC3E}">
        <p14:creationId xmlns:p14="http://schemas.microsoft.com/office/powerpoint/2010/main" val="1700540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56D0-A0FD-55F9-20CA-ED5C63A54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250EB0C-793F-2658-64FF-365681077E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-2031" y="0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D080AE3-C42B-9DD0-D517-4B10411CE9C3}"/>
              </a:ext>
            </a:extLst>
          </p:cNvPr>
          <p:cNvCxnSpPr>
            <a:cxnSpLocks/>
          </p:cNvCxnSpPr>
          <p:nvPr/>
        </p:nvCxnSpPr>
        <p:spPr>
          <a:xfrm flipH="1">
            <a:off x="882502" y="614105"/>
            <a:ext cx="1121734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1E09301-D17B-7908-3EC9-5234F0A7F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5" y="533452"/>
            <a:ext cx="437914" cy="15229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457ACE-4D58-7406-8464-2F88FD9551A2}"/>
              </a:ext>
            </a:extLst>
          </p:cNvPr>
          <p:cNvSpPr>
            <a:spLocks/>
          </p:cNvSpPr>
          <p:nvPr/>
        </p:nvSpPr>
        <p:spPr>
          <a:xfrm>
            <a:off x="257477" y="774554"/>
            <a:ext cx="11090276" cy="4419600"/>
          </a:xfrm>
          <a:prstGeom prst="roundRect">
            <a:avLst>
              <a:gd name="adj" fmla="val 524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08F51-F929-0A70-17E2-F069B30AA178}"/>
              </a:ext>
            </a:extLst>
          </p:cNvPr>
          <p:cNvSpPr txBox="1"/>
          <p:nvPr/>
        </p:nvSpPr>
        <p:spPr>
          <a:xfrm>
            <a:off x="769819" y="70991"/>
            <a:ext cx="113050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How many cancellations occurred each month, segmented by customer and driver</a:t>
            </a:r>
          </a:p>
        </p:txBody>
      </p:sp>
      <p:pic>
        <p:nvPicPr>
          <p:cNvPr id="13" name="Picture 1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831A5DE-FE52-3582-ADD2-005027ED3B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682" y="1496924"/>
            <a:ext cx="8634591" cy="3192034"/>
          </a:xfrm>
          <a:prstGeom prst="rect">
            <a:avLst/>
          </a:prstGeom>
        </p:spPr>
      </p:pic>
      <p:pic>
        <p:nvPicPr>
          <p:cNvPr id="24" name="Picture 23" descr="A screenshot of a table&#10;&#10;AI-generated content may be incorrect.">
            <a:extLst>
              <a:ext uri="{FF2B5EF4-FFF2-40B4-BE49-F238E27FC236}">
                <a16:creationId xmlns:a16="http://schemas.microsoft.com/office/drawing/2014/main" id="{DCDE86E5-3FC4-ABA9-C326-A7006EB368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7" y="3955312"/>
            <a:ext cx="3151045" cy="283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24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35C16-70C8-E2AF-603E-37B2A888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4ACDC1-D936-F89C-7B17-68833B47445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-2031" y="0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A337857-546D-B547-073B-3DD05B42DBFC}"/>
              </a:ext>
            </a:extLst>
          </p:cNvPr>
          <p:cNvCxnSpPr>
            <a:cxnSpLocks/>
          </p:cNvCxnSpPr>
          <p:nvPr/>
        </p:nvCxnSpPr>
        <p:spPr>
          <a:xfrm flipH="1">
            <a:off x="882502" y="614105"/>
            <a:ext cx="1121734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7EB71F2-314B-1A63-EEBB-EADE2D2BA7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5" y="533452"/>
            <a:ext cx="437914" cy="15229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7BB694-716A-47BF-6D23-3DC25290B477}"/>
              </a:ext>
            </a:extLst>
          </p:cNvPr>
          <p:cNvSpPr>
            <a:spLocks/>
          </p:cNvSpPr>
          <p:nvPr/>
        </p:nvSpPr>
        <p:spPr>
          <a:xfrm>
            <a:off x="934756" y="84006"/>
            <a:ext cx="11090276" cy="601742"/>
          </a:xfrm>
          <a:prstGeom prst="roundRect">
            <a:avLst>
              <a:gd name="adj" fmla="val 5248"/>
            </a:avLst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Which vehicle type  of driver cancellations(in PCT)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C43A004-577E-B9D9-BDE9-2C8FE51624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097" y="1416329"/>
            <a:ext cx="6706910" cy="341779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00EACD-16D5-DA84-4D1A-412A76198F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56" y="4834122"/>
            <a:ext cx="1960428" cy="177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46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1631-306F-2913-9197-F2AD50457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20E3B49-8270-8317-9245-88FBF122E8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3189374"/>
            <a:ext cx="5979042" cy="35623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628991-2FD5-C018-C455-55DA49A8F0B8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24EFB1D-D35D-10E8-A6B7-A17B0890C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00FD94-5B91-32CD-7C14-3E9FA348C0DF}"/>
              </a:ext>
            </a:extLst>
          </p:cNvPr>
          <p:cNvSpPr>
            <a:spLocks/>
          </p:cNvSpPr>
          <p:nvPr/>
        </p:nvSpPr>
        <p:spPr>
          <a:xfrm>
            <a:off x="550862" y="1219200"/>
            <a:ext cx="11090276" cy="4419600"/>
          </a:xfrm>
          <a:prstGeom prst="roundRect">
            <a:avLst>
              <a:gd name="adj" fmla="val 524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C56F4-6E61-0208-75EB-70D2E749FA63}"/>
              </a:ext>
            </a:extLst>
          </p:cNvPr>
          <p:cNvSpPr txBox="1"/>
          <p:nvPr/>
        </p:nvSpPr>
        <p:spPr>
          <a:xfrm>
            <a:off x="1212112" y="46571"/>
            <a:ext cx="102630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What is the average customer rating across all rides</a:t>
            </a:r>
          </a:p>
        </p:txBody>
      </p:sp>
      <p:pic>
        <p:nvPicPr>
          <p:cNvPr id="7" name="Picture 6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46CEF22F-6DAA-6BD9-7846-7416754A45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185" y="1750088"/>
            <a:ext cx="5709683" cy="1626826"/>
          </a:xfrm>
          <a:prstGeom prst="rect">
            <a:avLst/>
          </a:prstGeom>
        </p:spPr>
      </p:pic>
      <p:pic>
        <p:nvPicPr>
          <p:cNvPr id="11" name="Picture 10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945F6FEF-1DDE-B83F-D275-5D1DAA9580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194" y="3964768"/>
            <a:ext cx="2010991" cy="69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76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50ED7-A60E-FD57-DAB0-1BC2C4255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9C1A557-DD60-F29B-944E-2D469ED8CC1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253150" y="191386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ABE83F0-D6D0-9FDC-DD0F-C94AB42A9C5F}"/>
              </a:ext>
            </a:extLst>
          </p:cNvPr>
          <p:cNvCxnSpPr>
            <a:cxnSpLocks/>
          </p:cNvCxnSpPr>
          <p:nvPr/>
        </p:nvCxnSpPr>
        <p:spPr>
          <a:xfrm flipH="1">
            <a:off x="882502" y="614105"/>
            <a:ext cx="1121734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DEF0E15-D138-3740-A4E4-AD80C5601A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5" y="533452"/>
            <a:ext cx="437914" cy="15229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18C131-8F30-FDBD-92A5-12E386A5F0F0}"/>
              </a:ext>
            </a:extLst>
          </p:cNvPr>
          <p:cNvSpPr>
            <a:spLocks/>
          </p:cNvSpPr>
          <p:nvPr/>
        </p:nvSpPr>
        <p:spPr>
          <a:xfrm>
            <a:off x="657187" y="7858"/>
            <a:ext cx="11090276" cy="601742"/>
          </a:xfrm>
          <a:prstGeom prst="roundRect">
            <a:avLst>
              <a:gd name="adj" fmla="val 5248"/>
            </a:avLst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What is the average customer rating by vehicle type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2E2D2C6-686D-8209-66DC-2C0E380839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778" y="1560968"/>
            <a:ext cx="5794744" cy="2181683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701BE8-6216-127D-9E09-832FF63819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9" y="4449776"/>
            <a:ext cx="2518038" cy="189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296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90ACA-303F-9FE5-8374-4AE5F39D7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BDD7CF1-4703-BD6F-BEE8-947AC2DC8B7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253150" y="191386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856B360-9EE9-9D87-979E-3381E94AF1D0}"/>
              </a:ext>
            </a:extLst>
          </p:cNvPr>
          <p:cNvCxnSpPr>
            <a:cxnSpLocks/>
          </p:cNvCxnSpPr>
          <p:nvPr/>
        </p:nvCxnSpPr>
        <p:spPr>
          <a:xfrm flipH="1">
            <a:off x="882502" y="614105"/>
            <a:ext cx="1121734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11BB0D8-2B7E-61B8-FAB4-E0BF020E47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5" y="533452"/>
            <a:ext cx="437914" cy="15229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547DB7-07DF-DD6A-4C68-1AA9045B6CBB}"/>
              </a:ext>
            </a:extLst>
          </p:cNvPr>
          <p:cNvSpPr>
            <a:spLocks/>
          </p:cNvSpPr>
          <p:nvPr/>
        </p:nvSpPr>
        <p:spPr>
          <a:xfrm>
            <a:off x="657187" y="7858"/>
            <a:ext cx="11090276" cy="601742"/>
          </a:xfrm>
          <a:prstGeom prst="roundRect">
            <a:avLst>
              <a:gd name="adj" fmla="val 5248"/>
            </a:avLst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>
                <a:solidFill>
                  <a:srgbClr val="FF0000"/>
                </a:solidFill>
              </a:rPr>
              <a:t>How many loyal customers have taken more than one ride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5BBA522-410D-5447-41B2-48F39F3029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209" y="1445934"/>
            <a:ext cx="5007934" cy="2174452"/>
          </a:xfrm>
          <a:prstGeom prst="rect">
            <a:avLst/>
          </a:prstGeom>
        </p:spPr>
      </p:pic>
      <p:pic>
        <p:nvPicPr>
          <p:cNvPr id="11" name="Picture 10" descr="A close up of a box&#10;&#10;AI-generated content may be incorrect.">
            <a:extLst>
              <a:ext uri="{FF2B5EF4-FFF2-40B4-BE49-F238E27FC236}">
                <a16:creationId xmlns:a16="http://schemas.microsoft.com/office/drawing/2014/main" id="{B6FEA0D8-1B9F-ED4E-7DFC-DCF6233C73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026" y="4452214"/>
            <a:ext cx="1803876" cy="68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3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74A2E-9AB5-C3CE-7B77-418C2F49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A3E5E4-7B43-F218-E73B-8628C271FF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-up of a building&#10;&#10;AI-generated content may be incorrect.">
            <a:extLst>
              <a:ext uri="{FF2B5EF4-FFF2-40B4-BE49-F238E27FC236}">
                <a16:creationId xmlns:a16="http://schemas.microsoft.com/office/drawing/2014/main" id="{494D4CE0-0FAD-3287-45FE-4D61BC570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17"/>
          <a:stretch/>
        </p:blipFill>
        <p:spPr>
          <a:xfrm>
            <a:off x="2997200" y="0"/>
            <a:ext cx="91948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F6CAD59-03E5-1EDE-2B9B-3FB1616F7564}"/>
              </a:ext>
            </a:extLst>
          </p:cNvPr>
          <p:cNvSpPr/>
          <p:nvPr/>
        </p:nvSpPr>
        <p:spPr>
          <a:xfrm rot="16200000">
            <a:off x="2820908" y="-2736854"/>
            <a:ext cx="6858001" cy="12331703"/>
          </a:xfrm>
          <a:prstGeom prst="rect">
            <a:avLst/>
          </a:prstGeom>
          <a:gradFill>
            <a:gsLst>
              <a:gs pos="0">
                <a:schemeClr val="tx1">
                  <a:alpha val="93000"/>
                </a:schemeClr>
              </a:gs>
              <a:gs pos="44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A24B03A-7C4C-6800-EF1B-FCF05329600D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C4B6BDA-9076-C371-48F1-5FF5283859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A94495E-C797-9BCF-42A4-A3B00C86A26C}"/>
              </a:ext>
            </a:extLst>
          </p:cNvPr>
          <p:cNvSpPr txBox="1"/>
          <p:nvPr/>
        </p:nvSpPr>
        <p:spPr>
          <a:xfrm>
            <a:off x="769820" y="5956"/>
            <a:ext cx="111288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Which pickup locations have the lowest customer ratings (Bad Experience Area)</a:t>
            </a:r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AE8B4F-1F23-40E2-CE7D-EC9DC7EF64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095" y="4388646"/>
            <a:ext cx="2294975" cy="2256703"/>
          </a:xfrm>
          <a:prstGeom prst="rect">
            <a:avLst/>
          </a:prstGeom>
        </p:spPr>
      </p:pic>
      <p:pic>
        <p:nvPicPr>
          <p:cNvPr id="25" name="Picture 2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4EC21931-FF8A-B472-D7D6-EA708102EB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182" y="1662705"/>
            <a:ext cx="4978497" cy="287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02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15650-9C37-75DE-6856-A686CE18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82546CF-44AA-904C-B903-07382BF5665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253150" y="191386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B1D78DF-65B5-DD19-9E25-74B2C8215574}"/>
              </a:ext>
            </a:extLst>
          </p:cNvPr>
          <p:cNvCxnSpPr>
            <a:cxnSpLocks/>
          </p:cNvCxnSpPr>
          <p:nvPr/>
        </p:nvCxnSpPr>
        <p:spPr>
          <a:xfrm flipH="1">
            <a:off x="882502" y="614105"/>
            <a:ext cx="1121734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74FB046-C7D9-A547-2FB8-729288F89F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5" y="533452"/>
            <a:ext cx="437914" cy="152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D4F65D-D515-8B97-7620-20B547A3D995}"/>
              </a:ext>
            </a:extLst>
          </p:cNvPr>
          <p:cNvSpPr txBox="1"/>
          <p:nvPr/>
        </p:nvSpPr>
        <p:spPr>
          <a:xfrm>
            <a:off x="2128269" y="100973"/>
            <a:ext cx="75951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What is the average driver arrival time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AAE95B-97B7-6772-B7CE-0D88472DB3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004" y="1684767"/>
            <a:ext cx="4880345" cy="13198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0099DD-5956-F456-3A82-FAC0813339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49" y="3768333"/>
            <a:ext cx="2202697" cy="76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89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27E99-3B23-DE92-A2CA-6F9CD29B1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F516130-17D6-21CA-8E03-7BE94CD6E8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068FBB-CBE3-272C-F480-ACAF0D642525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F9F6C1C-409D-1AD9-D6AC-8434831B99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493C8A-3623-AD8F-1BFC-9EA123E992D4}"/>
              </a:ext>
            </a:extLst>
          </p:cNvPr>
          <p:cNvSpPr>
            <a:spLocks/>
          </p:cNvSpPr>
          <p:nvPr/>
        </p:nvSpPr>
        <p:spPr>
          <a:xfrm>
            <a:off x="550862" y="1219200"/>
            <a:ext cx="11090276" cy="4419600"/>
          </a:xfrm>
          <a:prstGeom prst="roundRect">
            <a:avLst>
              <a:gd name="adj" fmla="val 524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2A4E8-E522-2C6D-6983-D598FC5B5904}"/>
              </a:ext>
            </a:extLst>
          </p:cNvPr>
          <p:cNvSpPr txBox="1"/>
          <p:nvPr/>
        </p:nvSpPr>
        <p:spPr>
          <a:xfrm>
            <a:off x="955673" y="35938"/>
            <a:ext cx="107743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What is the monthly average driver arrival time trend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73B794-97A6-A704-B4BA-66F0CB2E5A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698" y="1671843"/>
            <a:ext cx="6216604" cy="24961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D01A76-B279-2F9D-CA93-E0A9638EFF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04" y="4285676"/>
            <a:ext cx="2371719" cy="244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10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B9910-058C-514C-8A64-4D187829A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A4571E-214E-B66E-12F4-902B91FB25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23B7125-E934-1B28-774A-D9A77D9B418F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E30BB5B-2CF3-DF15-DBCC-DC9FE795D4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03DDB9-D10F-138B-34A7-6B8060D139C0}"/>
              </a:ext>
            </a:extLst>
          </p:cNvPr>
          <p:cNvSpPr>
            <a:spLocks/>
          </p:cNvSpPr>
          <p:nvPr/>
        </p:nvSpPr>
        <p:spPr>
          <a:xfrm>
            <a:off x="550862" y="1219200"/>
            <a:ext cx="11090276" cy="4419600"/>
          </a:xfrm>
          <a:prstGeom prst="roundRect">
            <a:avLst>
              <a:gd name="adj" fmla="val 524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05A50-F835-5626-434B-69ADE735D74E}"/>
              </a:ext>
            </a:extLst>
          </p:cNvPr>
          <p:cNvSpPr txBox="1"/>
          <p:nvPr/>
        </p:nvSpPr>
        <p:spPr>
          <a:xfrm>
            <a:off x="920861" y="70991"/>
            <a:ext cx="107202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How many total bookings fall within each ride distance</a:t>
            </a:r>
          </a:p>
          <a:p>
            <a:r>
              <a:rPr lang="en-IN" dirty="0"/>
              <a:t> range (in 10 km bins)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C7F2EC-BC6D-10EF-38D1-370C3B4CAB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944" y="1969616"/>
            <a:ext cx="5382109" cy="27087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A63C81-A50E-E947-3F4C-8123696D6D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583" y="4727727"/>
            <a:ext cx="2059956" cy="155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15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3C1E6-C55B-4CD6-1A80-A7B87563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42AACB-4C2E-6F15-DE45-F1F1DD6DA9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6181613-5493-D3D1-98FA-5EDB01446504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739515D-7DDF-AD63-A8DE-CA3F800BD8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BA5322-48A0-3A79-7E41-BED2FFF06341}"/>
              </a:ext>
            </a:extLst>
          </p:cNvPr>
          <p:cNvSpPr>
            <a:spLocks/>
          </p:cNvSpPr>
          <p:nvPr/>
        </p:nvSpPr>
        <p:spPr>
          <a:xfrm>
            <a:off x="550862" y="1219200"/>
            <a:ext cx="11090276" cy="4419600"/>
          </a:xfrm>
          <a:prstGeom prst="roundRect">
            <a:avLst>
              <a:gd name="adj" fmla="val 524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DC898-C52B-09E8-1447-F90CE1F8C192}"/>
              </a:ext>
            </a:extLst>
          </p:cNvPr>
          <p:cNvSpPr txBox="1"/>
          <p:nvPr/>
        </p:nvSpPr>
        <p:spPr>
          <a:xfrm>
            <a:off x="880230" y="29330"/>
            <a:ext cx="107202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GB" dirty="0"/>
              <a:t>What are the top 15 most common pickup locations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7654A-5DC4-EAF7-21DF-80A2E45114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065" y="1247817"/>
            <a:ext cx="5129484" cy="2845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5C014A-AE68-1997-B8B2-51C8D8B3E9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20" y="4262489"/>
            <a:ext cx="3069447" cy="241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71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C4F84-EE1A-6EF1-6D16-6C5EA5744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F9DB733-5BC3-052A-61B7-F141B7A9D9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001C76A-3BFE-E8AC-294E-70FA129A1DB2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FCE8005-E816-BB49-8DC4-EDD09BC87D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9FDB54-98A6-421D-489F-92242D1B5FA5}"/>
              </a:ext>
            </a:extLst>
          </p:cNvPr>
          <p:cNvSpPr>
            <a:spLocks/>
          </p:cNvSpPr>
          <p:nvPr/>
        </p:nvSpPr>
        <p:spPr>
          <a:xfrm>
            <a:off x="550862" y="1219200"/>
            <a:ext cx="11090276" cy="4419600"/>
          </a:xfrm>
          <a:prstGeom prst="roundRect">
            <a:avLst>
              <a:gd name="adj" fmla="val 524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78D44-2024-E784-5F54-F82A23F1BCB4}"/>
              </a:ext>
            </a:extLst>
          </p:cNvPr>
          <p:cNvSpPr txBox="1"/>
          <p:nvPr/>
        </p:nvSpPr>
        <p:spPr>
          <a:xfrm>
            <a:off x="242277" y="4681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en-GB"/>
              <a:t>What are the peak hours that generate the highest total sales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9A4BF6-623C-FC93-3870-D57C913F34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008" y="4209200"/>
            <a:ext cx="2362878" cy="2325963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7C97AFE-A206-A6C3-66E3-7A38491A1C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390" y="1170262"/>
            <a:ext cx="5452110" cy="278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092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A99B7-19DD-5B3C-4AA3-CDE93A649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D4CC7DD-3FA0-B322-D8D4-B3360BA6AB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D96821F-B56C-7284-FB71-FA2A577186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82FF007-64AF-6905-947A-700242418E5D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872780D-C0F2-B0B2-7CE4-D4235D70EB1E}"/>
              </a:ext>
            </a:extLst>
          </p:cNvPr>
          <p:cNvSpPr txBox="1"/>
          <p:nvPr/>
        </p:nvSpPr>
        <p:spPr>
          <a:xfrm>
            <a:off x="69574" y="2401802"/>
            <a:ext cx="1212242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GB" dirty="0"/>
              <a:t>PART 2: </a:t>
            </a:r>
            <a:r>
              <a:rPr lang="en-GB" sz="2800" dirty="0">
                <a:solidFill>
                  <a:schemeClr val="bg1"/>
                </a:solidFill>
              </a:rPr>
              <a:t>Power BI Report Developed an interactive Power BI dashboard to visualize Uber ride data, highlight key business insights, and track performance trends for better decision-making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0170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D0A17-7421-0212-6A2B-D31E9C588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F20FFA6-DAFB-4C6D-51A0-29C08E9A30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194364" y="109330"/>
            <a:ext cx="11997635" cy="674867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BC4FE41-860B-21A2-8899-1B795D2026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265FFA2-878D-5D25-0E78-540C57DF9B62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F3F20F-6DCC-09CD-60B6-345295B881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28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4FF0BE-1015-6961-3D72-8E3D8A4E2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E456504-E922-E7F1-95B9-ED03D43909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04DC616-4DD7-5DC4-B5EE-228D7A09C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59E4CA2-B58B-0C2C-EB54-1F12478A813D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1AA022-C382-530E-8B7B-E149D56730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72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9D1B0-5A07-B28B-A154-D34A7A4D7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97B625C-DC23-086E-3F29-D99B4360EC0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CA8D83E-5502-F93C-FB45-20660CFF5E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EF7BF29-F484-7465-D57D-5739DD14445D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4A6C38-04E6-4B02-AAC7-2CCF221809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821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A4779A-65D4-568A-4475-4BAB5AB6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379A121-4F64-5FE3-88F8-C0BE3277BD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5C088B4-CAF4-AE9A-B6A3-D84B47DD6D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A802FFF-9F11-F03D-AF90-1534CBF27A34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DCBFC8-9133-B83B-BA8C-049424BC41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99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AC94C-C5C6-B182-0DA9-133873F5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D1D0FF6-407F-C51D-2236-AAA76A7BE0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9C8FA41-5FFD-141A-AA48-00B38AFE31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663A6C4-B4B1-1361-F291-89FC2AFEC504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7B8838-1615-2586-22B9-C4F09AB285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01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CE4BB-C6EF-D089-FF4E-56596327F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69FEBD7-0828-2A51-AB11-08D50D25735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-483808"/>
            <a:ext cx="12192000" cy="6858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A497841-CFA1-DC2E-3E28-32CA8B3485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6" y="468417"/>
            <a:ext cx="437914" cy="15229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1894D23-44BA-5DC3-B7F5-CAD0F667C89D}"/>
              </a:ext>
            </a:extLst>
          </p:cNvPr>
          <p:cNvCxnSpPr>
            <a:cxnSpLocks/>
          </p:cNvCxnSpPr>
          <p:nvPr/>
        </p:nvCxnSpPr>
        <p:spPr>
          <a:xfrm flipH="1">
            <a:off x="899311" y="585487"/>
            <a:ext cx="1070119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4C3264-7415-4007-0441-BF9C72ABAF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44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9A136-DB61-A4AD-A220-5D07F78E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597CA5-5E79-2498-5599-290EB9AAEE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8268B8-33BD-3E1C-BD38-9C67248A0C10}"/>
              </a:ext>
            </a:extLst>
          </p:cNvPr>
          <p:cNvSpPr txBox="1"/>
          <p:nvPr/>
        </p:nvSpPr>
        <p:spPr>
          <a:xfrm>
            <a:off x="2851796" y="2644170"/>
            <a:ext cx="64884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000">
                <a:solidFill>
                  <a:schemeClr val="bg1"/>
                </a:solidFill>
                <a:latin typeface="Archivo" pitchFamily="2" charset="0"/>
                <a:cs typeface="Archivo" pitchFamily="2" charset="0"/>
              </a:defRPr>
            </a:lvl1pPr>
          </a:lstStyle>
          <a:p>
            <a:pPr algn="ctr"/>
            <a:r>
              <a:rPr lang="en-IN" sz="9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9039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FBA93F-ED45-4C29-939E-EEEC65CA43D4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1963</TotalTime>
  <Words>430</Words>
  <Application>Microsoft Office PowerPoint</Application>
  <PresentationFormat>Widescreen</PresentationFormat>
  <Paragraphs>57</Paragraphs>
  <Slides>34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Nithya V</dc:creator>
  <cp:lastModifiedBy>adarsh jha</cp:lastModifiedBy>
  <cp:revision>14</cp:revision>
  <dcterms:created xsi:type="dcterms:W3CDTF">2025-04-25T06:36:07Z</dcterms:created>
  <dcterms:modified xsi:type="dcterms:W3CDTF">2025-11-06T08:33:27Z</dcterms:modified>
</cp:coreProperties>
</file>